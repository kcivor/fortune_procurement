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572000" cy="4572000"/>
          </a:xfrm>
          <a:prstGeom prst="ellipse">
            <a:avLst/>
          </a:prstGeom>
          <a:solidFill>
            <a:srgbClr val="0B4F6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365760"/>
            <a:ext cx="2286000" cy="2286000"/>
          </a:xfrm>
          <a:prstGeom prst="ellipse">
            <a:avLst/>
          </a:prstGeom>
          <a:solidFill>
            <a:srgbClr val="E8A33D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STARTUPLAB BUSINESS CENTER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Requisition Approval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Fulfillment Workflow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process flow — from employee or planning request through final receiving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4348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Goods  ·  Raw Materials  ·  Services  ·  Substitute Item Review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080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standard reviewed and confirmed by the client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approval checkpoint has 3 possible actions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4F6F7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352044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advances to the next approver or process step.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4F6F7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600200"/>
            <a:ext cx="352044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600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is closed. The original requestor is notified with the rejection reason.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4F6F7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600200"/>
            <a:ext cx="352044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600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Revision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219456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returns to the previous step for correction, then re-enters the same approval stage.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shows four related workflows, each as a stage-by-stage flowchart: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B4F6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617720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599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09320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request → receiving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4434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5B4B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4617720"/>
            <a:ext cx="365760" cy="36576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86200" y="4599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29000" y="509320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request → QA-approved receiving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4434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E7D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617720"/>
            <a:ext cx="365760" cy="36576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4599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17920" y="509320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 or Planning → Procurement-led receiving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823960" y="4434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0" y="461772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900684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464040" y="4599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Items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006840" y="509320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alternate offer → review → award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 Workflow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REQUISITION 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of 2: Request → Canvassing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44424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444240" cy="438912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316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PR1 — Purchase Request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" y="238887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03120"/>
            <a:ext cx="3023616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Requestor —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PR1, classifies as a Goods request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5216" y="304266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756916"/>
            <a:ext cx="3023616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—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request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5216" y="369646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410712"/>
            <a:ext cx="3023616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Head —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the request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" y="435025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4064508"/>
            <a:ext cx="3023616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stock; creates PR2 (Prepared By)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92880" y="3063240"/>
            <a:ext cx="27432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4358640" y="1554480"/>
            <a:ext cx="344424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58640" y="1554480"/>
            <a:ext cx="3444240" cy="438912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4495800" y="1554480"/>
            <a:ext cx="316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PR2 — Purchasing Request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86656" y="271576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4651248" y="2103120"/>
            <a:ext cx="3023616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Head —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Certifies the PR2 (Certified By)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6656" y="402336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4651248" y="3410712"/>
            <a:ext cx="3023616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Manager —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— notifies Procurement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94320" y="3063240"/>
            <a:ext cx="27432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8260080" y="1554480"/>
            <a:ext cx="344424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60080" y="1554480"/>
            <a:ext cx="3444240" cy="438912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6" name="Text 24"/>
          <p:cNvSpPr/>
          <p:nvPr/>
        </p:nvSpPr>
        <p:spPr>
          <a:xfrm>
            <a:off x="8397240" y="1554480"/>
            <a:ext cx="316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RFQ — Canvassing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88096" y="249783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8552688" y="2103120"/>
            <a:ext cx="3023616" cy="871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Staff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RFQ, canvasses suppliers (Prepared By)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88096" y="336956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8552688" y="2974848"/>
            <a:ext cx="3023616" cy="871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Manager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canvassing results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388096" y="424129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8552688" y="3846576"/>
            <a:ext cx="3023616" cy="871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— PO may be created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507492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F4F6F7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07492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100" i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may adjust the requested quantity to reflect actual stock (partial fulfillment) — a remark explaining the change is required.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Requisition Workflow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REQUISITION 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of 2: Purchase Order → Receiving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444240" cy="3931920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444240" cy="438912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316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 — Purchase Order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" y="246888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03120"/>
            <a:ext cx="30236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Staff —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PO (Prepared By)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5216" y="328269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916936"/>
            <a:ext cx="30236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Manager —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PO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5216" y="409651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730752"/>
            <a:ext cx="30236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Director —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— notifies Procurement Staff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" y="491032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4544568"/>
            <a:ext cx="30236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Staff —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sends the PO to the supplier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92880" y="3383280"/>
            <a:ext cx="27432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4358640" y="1554480"/>
            <a:ext cx="3444240" cy="3931920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58640" y="1554480"/>
            <a:ext cx="3444240" cy="438912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4495800" y="1554480"/>
            <a:ext cx="316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86656" y="287578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4651248" y="2103120"/>
            <a:ext cx="3023616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—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Acknowledges PO; gives delivery schedule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6656" y="450342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4651248" y="3730752"/>
            <a:ext cx="3023616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—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delivery progress in real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94320" y="3383280"/>
            <a:ext cx="27432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8260080" y="1554480"/>
            <a:ext cx="3444240" cy="3931920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60080" y="1554480"/>
            <a:ext cx="3444240" cy="438912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6" name="Text 24"/>
          <p:cNvSpPr/>
          <p:nvPr/>
        </p:nvSpPr>
        <p:spPr>
          <a:xfrm>
            <a:off x="8397240" y="1554480"/>
            <a:ext cx="316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GRN — Goods Receipt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88096" y="233324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8552688" y="2103120"/>
            <a:ext cx="302361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vs. DR; inspects &amp; accepts/rejects each item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8388096" y="287578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8552688" y="2645664"/>
            <a:ext cx="302361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GRN (GRN#, DR#, INV#, DR date)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8388096" y="341833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8552688" y="3188208"/>
            <a:ext cx="302361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flag an item for QA (case-by-case)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8388096" y="396087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8552688" y="3730752"/>
            <a:ext cx="302361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TSQA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flagged item(s); marks Approved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8388096" y="450342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8552688" y="4273296"/>
            <a:ext cx="302361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GRN once all items are resolved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8388096" y="504596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8" name="Text 36"/>
          <p:cNvSpPr/>
          <p:nvPr/>
        </p:nvSpPr>
        <p:spPr>
          <a:xfrm>
            <a:off x="8552688" y="4815840"/>
            <a:ext cx="302361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finalized GRN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Requisition Workflow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REQUISITION 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of 2: Direct Request → Canvassing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F4F6F7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100" i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exclusively by Planning (MRP / production forecast) — no PR1 and no Warehouse validation required.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44424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3444240" cy="43891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011680"/>
            <a:ext cx="316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PR2 — Direct Entry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" y="288645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560320"/>
            <a:ext cx="3023616" cy="734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PR2 directly, classified as Raw Material (Prepared By)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5216" y="362102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294888"/>
            <a:ext cx="3023616" cy="734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Head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Certifies the PR2 (Certified By)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" y="435559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4029456"/>
            <a:ext cx="3023616" cy="734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Manager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— notifies Procurement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992880" y="3314700"/>
            <a:ext cx="27432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4358640" y="2011680"/>
            <a:ext cx="344424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58640" y="2011680"/>
            <a:ext cx="3444240" cy="43891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18" name="Text 16"/>
          <p:cNvSpPr/>
          <p:nvPr/>
        </p:nvSpPr>
        <p:spPr>
          <a:xfrm>
            <a:off x="4495800" y="2011680"/>
            <a:ext cx="316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RFQ — Canvassing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86656" y="288645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4651248" y="2560320"/>
            <a:ext cx="3023616" cy="734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Staff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RFQ, canvasses raw material suppliers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86656" y="362102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4651248" y="3294888"/>
            <a:ext cx="3023616" cy="734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Manager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canvassing results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86656" y="435559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4651248" y="4029456"/>
            <a:ext cx="3023616" cy="734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— PO may be created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94320" y="3314700"/>
            <a:ext cx="27432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8260080" y="2011680"/>
            <a:ext cx="344424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60080" y="2011680"/>
            <a:ext cx="3444240" cy="43891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28" name="Text 26"/>
          <p:cNvSpPr/>
          <p:nvPr/>
        </p:nvSpPr>
        <p:spPr>
          <a:xfrm>
            <a:off x="8397240" y="2011680"/>
            <a:ext cx="316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 — Purchase Order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88096" y="2794635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8552688" y="2560320"/>
            <a:ext cx="3023616" cy="550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Staff —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PO (Prepared By)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88096" y="3345561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8552688" y="3111246"/>
            <a:ext cx="3023616" cy="550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Manager —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PO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88096" y="3896487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8552688" y="3662172"/>
            <a:ext cx="3023616" cy="550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Director —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— notifies Procurement Staff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88096" y="4447413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8552688" y="4213098"/>
            <a:ext cx="3023616" cy="550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Staff —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sends the PO to the supplier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Requisition Workflow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REQUISITION 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of 2: Delivery → GRN &amp; Mandatory QA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94960" cy="3931920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394960" cy="43891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" y="287578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03120"/>
            <a:ext cx="4974336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—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Acknowledges PO; gives delivery schedule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" y="450342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730752"/>
            <a:ext cx="4974336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—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delivery progress — visible to Procurement, Warehouse, and Planning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3383280"/>
            <a:ext cx="27432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554480"/>
            <a:ext cx="5394960" cy="3931920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554480"/>
            <a:ext cx="5394960" cy="43891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55448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GRN &amp; TSQA Approval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37376" y="233324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6601968" y="2103120"/>
            <a:ext cx="497433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vs. DR; inspects &amp; accepts/rejects each item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437376" y="287578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2645664"/>
            <a:ext cx="497433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GRN (GRN#, DR#, INV#, DR date)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437376" y="341833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6601968" y="3188208"/>
            <a:ext cx="497433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every accepted item for QA (mandatory)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6437376" y="396087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6601968" y="3730752"/>
            <a:ext cx="497433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TSQA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flagged item(s); marks Approved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437376" y="450342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6601968" y="4273296"/>
            <a:ext cx="497433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GRN once all items, incl. QA, are resolved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437376" y="504596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6601968" y="4815840"/>
            <a:ext cx="497433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finalized GRN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457200" y="562356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F4F6F7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62356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100" i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 from Goods: QA flagging is mandatory for every raw material item — not a case-by-case decision.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Requisition Workflow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REQUISITION 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of 2: Two Entry Points → Canvassing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444240" cy="4434840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444240" cy="438912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316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PR1 / PR2 — Entry Points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103120"/>
            <a:ext cx="3224784" cy="417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End User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85216" y="268833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520696"/>
            <a:ext cx="3023616" cy="417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6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 — </a:t>
            </a:r>
            <a:pPr indent="0" marL="0">
              <a:lnSpc>
                <a:spcPct val="102000"/>
              </a:lnSpc>
              <a:buNone/>
            </a:pPr>
            <a:r>
              <a:rPr lang="en-US" sz="86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PR1 (service request)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585216" y="310591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938272"/>
            <a:ext cx="3023616" cy="417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6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→ Dept. Head — </a:t>
            </a:r>
            <a:pPr indent="0" marL="0">
              <a:lnSpc>
                <a:spcPct val="102000"/>
              </a:lnSpc>
              <a:buNone/>
            </a:pPr>
            <a:r>
              <a:rPr lang="en-US" sz="86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approves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585216" y="352348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355848"/>
            <a:ext cx="3023616" cy="417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6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</a:t>
            </a:r>
            <a:pPr indent="0" marL="0">
              <a:lnSpc>
                <a:spcPct val="102000"/>
              </a:lnSpc>
              <a:buNone/>
            </a:pPr>
            <a:r>
              <a:rPr lang="en-US" sz="86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PR1 to PR2 (Prepared By)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566928" y="3773424"/>
            <a:ext cx="3224784" cy="417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Planning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585216" y="435864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191000"/>
            <a:ext cx="3023616" cy="417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6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— </a:t>
            </a:r>
            <a:pPr indent="0" marL="0">
              <a:lnSpc>
                <a:spcPct val="102000"/>
              </a:lnSpc>
              <a:buNone/>
            </a:pPr>
            <a:r>
              <a:rPr lang="en-US" sz="86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PR2 directly — no PR1 required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566928" y="4608576"/>
            <a:ext cx="3224784" cy="417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converge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85216" y="519379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5026152"/>
            <a:ext cx="3023616" cy="417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6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Head — </a:t>
            </a:r>
            <a:pPr indent="0" marL="0">
              <a:lnSpc>
                <a:spcPct val="102000"/>
              </a:lnSpc>
              <a:buNone/>
            </a:pPr>
            <a:r>
              <a:rPr lang="en-US" sz="86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Certifies the PR2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85216" y="561136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5443728"/>
            <a:ext cx="3023616" cy="417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6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Manager — </a:t>
            </a:r>
            <a:pPr indent="0" marL="0">
              <a:lnSpc>
                <a:spcPct val="102000"/>
              </a:lnSpc>
              <a:buNone/>
            </a:pPr>
            <a:r>
              <a:rPr lang="en-US" sz="86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— notifies Procurement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3992880" y="3634740"/>
            <a:ext cx="27432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4358640" y="1554480"/>
            <a:ext cx="3444240" cy="4434840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58640" y="1554480"/>
            <a:ext cx="3444240" cy="438912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25" name="Text 23"/>
          <p:cNvSpPr/>
          <p:nvPr/>
        </p:nvSpPr>
        <p:spPr>
          <a:xfrm>
            <a:off x="4495800" y="1554480"/>
            <a:ext cx="316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RFQ — Canvassing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86656" y="268833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4651248" y="2103120"/>
            <a:ext cx="3023616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Staff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RFQ, canvasses service suppliers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86656" y="394106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4651248" y="3355848"/>
            <a:ext cx="3023616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Manager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canvassing results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86656" y="519379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/>
          <p:nvPr/>
        </p:nvSpPr>
        <p:spPr>
          <a:xfrm>
            <a:off x="4651248" y="4608576"/>
            <a:ext cx="3023616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—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— PO may be created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894320" y="3634740"/>
            <a:ext cx="27432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8260080" y="1554480"/>
            <a:ext cx="3444240" cy="4434840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60080" y="1554480"/>
            <a:ext cx="3444240" cy="438912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5" name="Text 33"/>
          <p:cNvSpPr/>
          <p:nvPr/>
        </p:nvSpPr>
        <p:spPr>
          <a:xfrm>
            <a:off x="8397240" y="1554480"/>
            <a:ext cx="316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 — Purchase Order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88096" y="2531745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7" name="Text 35"/>
          <p:cNvSpPr/>
          <p:nvPr/>
        </p:nvSpPr>
        <p:spPr>
          <a:xfrm>
            <a:off x="8552688" y="2103120"/>
            <a:ext cx="3023616" cy="9395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Staff —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PO (Prepared By)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388096" y="3471291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9" name="Text 37"/>
          <p:cNvSpPr/>
          <p:nvPr/>
        </p:nvSpPr>
        <p:spPr>
          <a:xfrm>
            <a:off x="8552688" y="3042666"/>
            <a:ext cx="3023616" cy="9395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Manager —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PO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388096" y="4410837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1" name="Text 39"/>
          <p:cNvSpPr/>
          <p:nvPr/>
        </p:nvSpPr>
        <p:spPr>
          <a:xfrm>
            <a:off x="8552688" y="3982212"/>
            <a:ext cx="3023616" cy="9395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Director —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— notifies Procurement Staff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388096" y="5350383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3" name="Text 41"/>
          <p:cNvSpPr/>
          <p:nvPr/>
        </p:nvSpPr>
        <p:spPr>
          <a:xfrm>
            <a:off x="8552688" y="4921758"/>
            <a:ext cx="3023616" cy="9395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Staff —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sends the PO to the supplier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Requisition Workflow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REQUISITION 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of 2: Delivery → Procurement-Led Receiving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444240" cy="3931920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444240" cy="438912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316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" y="287578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03120"/>
            <a:ext cx="3023616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—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Acknowledges PO; gives service/delivery schedule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" y="450342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730752"/>
            <a:ext cx="3023616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—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progress — visible to Procurement, Warehouse, Requestor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92880" y="3383280"/>
            <a:ext cx="27432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8640" y="1554480"/>
            <a:ext cx="3444240" cy="3931920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58640" y="1554480"/>
            <a:ext cx="3444240" cy="438912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14" name="Text 12"/>
          <p:cNvSpPr/>
          <p:nvPr/>
        </p:nvSpPr>
        <p:spPr>
          <a:xfrm>
            <a:off x="4495800" y="1554480"/>
            <a:ext cx="316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GRN — Receiving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6656" y="233324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4651248" y="2103120"/>
            <a:ext cx="302361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delivery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486656" y="287578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4651248" y="2645664"/>
            <a:ext cx="302361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if Procurement must GRN this service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486656" y="341833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4651248" y="3188208"/>
            <a:ext cx="302361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to Procurement if required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486656" y="396087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4651248" y="3730752"/>
            <a:ext cx="302361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/ Procurement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to TSQA once service is done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486656" y="450342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4651248" y="4273296"/>
            <a:ext cx="302361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TSQA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flagged service; marks Approved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486656" y="504596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4651248" y="4815840"/>
            <a:ext cx="3023616" cy="542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/ Procurement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GRN and prints the finalized copy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7894320" y="3383280"/>
            <a:ext cx="27432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8260080" y="1554480"/>
            <a:ext cx="3444240" cy="3931920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60080" y="1554480"/>
            <a:ext cx="3444240" cy="438912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0" name="Text 28"/>
          <p:cNvSpPr/>
          <p:nvPr/>
        </p:nvSpPr>
        <p:spPr>
          <a:xfrm>
            <a:off x="8397240" y="1554480"/>
            <a:ext cx="316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Docs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388096" y="287578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8552688" y="2103120"/>
            <a:ext cx="3023616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—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required docs (e.g., Certificate of Calibration) to the Supplier Dashboard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388096" y="450342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8552688" y="3730752"/>
            <a:ext cx="3023616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—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not finalize receipt if required documentation is missing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562356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F4F6F7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62356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100" i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 from Goods: Procurement, not Warehouse, receives and closes the GRN for services; TSQA applies only when flagged.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Requisition Workflow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ITEM REVIEW 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supplier offers an alternate item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across Goods, Raw Materials, and Services — substitution happens at the shared RFQ/canvassing stage.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5394960" cy="4389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9164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&amp; Review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" y="249722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240280"/>
            <a:ext cx="4974336" cy="596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a substitute item during quotation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85216" y="3093415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836469"/>
            <a:ext cx="4974336" cy="596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Notifies both the Requestor and Procurement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85216" y="368960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432658"/>
            <a:ext cx="4974336" cy="596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Requestor / Procurement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substitute side-by-side vs. original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85216" y="4285793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4028846"/>
            <a:ext cx="4974336" cy="596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Party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or rejects — one approval is enough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85216" y="488198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625035"/>
            <a:ext cx="4974336" cy="596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—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substitute becomes award-eligible; locked once RFQ closes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943600" y="3383280"/>
            <a:ext cx="27432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1691640"/>
            <a:ext cx="5394960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394960" cy="4389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69164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RFQ Approval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37376" y="294436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6601968" y="2240280"/>
            <a:ext cx="4974336" cy="1490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Manager —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finalized canvassing, incl. accepted substitutes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37376" y="443484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6601968" y="3730752"/>
            <a:ext cx="4974336" cy="1490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—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RFQ approval → proceeds to standard PO, Delivery &amp; GRN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48640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F4F6F7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48640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100" i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from either the Requestor or Procurement is sufficient to accept a substitute — dual approval is not required.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Item Review Workflow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three request types differ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017520" cy="621792"/>
          </a:xfrm>
          <a:prstGeom prst="rect">
            <a:avLst/>
          </a:prstGeom>
          <a:solidFill>
            <a:srgbClr val="0B2A3D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5448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554480"/>
            <a:ext cx="2880360" cy="621792"/>
          </a:xfrm>
          <a:prstGeom prst="rect">
            <a:avLst/>
          </a:prstGeom>
          <a:solidFill>
            <a:srgbClr val="0B2A3D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55448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2880360" cy="621792"/>
          </a:xfrm>
          <a:prstGeom prst="rect">
            <a:avLst/>
          </a:prstGeom>
          <a:solidFill>
            <a:srgbClr val="0B2A3D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55448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6D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35440" y="1554480"/>
            <a:ext cx="2880360" cy="621792"/>
          </a:xfrm>
          <a:prstGeom prst="rect">
            <a:avLst/>
          </a:prstGeom>
          <a:solidFill>
            <a:srgbClr val="0B2A3D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72600" y="155448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3017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7627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74720" y="2176272"/>
            <a:ext cx="2880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176272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PR1 (Employee)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2176272"/>
            <a:ext cx="2880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176272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PR2 direct (Planning only)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2176272"/>
            <a:ext cx="2880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2176272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PR1 (End User) or PR2 direct (Planning)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98064"/>
            <a:ext cx="3017520" cy="621792"/>
          </a:xfrm>
          <a:prstGeom prst="rect">
            <a:avLst/>
          </a:prstGeom>
          <a:solidFill>
            <a:srgbClr val="F4F6F7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79806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PR1 required?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74720" y="2798064"/>
            <a:ext cx="2880360" cy="621792"/>
          </a:xfrm>
          <a:prstGeom prst="rect">
            <a:avLst/>
          </a:prstGeom>
          <a:solidFill>
            <a:srgbClr val="F4F6F7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798064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2798064"/>
            <a:ext cx="2880360" cy="621792"/>
          </a:xfrm>
          <a:prstGeom prst="rect">
            <a:avLst/>
          </a:prstGeom>
          <a:solidFill>
            <a:srgbClr val="F4F6F7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798064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35440" y="2798064"/>
            <a:ext cx="2880360" cy="621792"/>
          </a:xfrm>
          <a:prstGeom prst="rect">
            <a:avLst/>
          </a:prstGeom>
          <a:solidFill>
            <a:srgbClr val="F4F6F7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72600" y="2798064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the End User path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419856"/>
            <a:ext cx="3017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41985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requests?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74720" y="3419856"/>
            <a:ext cx="2880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3419856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Requestor / Employee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3419856"/>
            <a:ext cx="2880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419856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only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235440" y="3419856"/>
            <a:ext cx="2880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72600" y="3419856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 or Planning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041648"/>
            <a:ext cx="3017520" cy="621792"/>
          </a:xfrm>
          <a:prstGeom prst="rect">
            <a:avLst/>
          </a:prstGeom>
          <a:solidFill>
            <a:srgbClr val="F4F6F7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041648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validation?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474720" y="4041648"/>
            <a:ext cx="2880360" cy="621792"/>
          </a:xfrm>
          <a:prstGeom prst="rect">
            <a:avLst/>
          </a:prstGeom>
          <a:solidFill>
            <a:srgbClr val="F4F6F7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11880" y="404164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stock check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55080" y="4041648"/>
            <a:ext cx="2880360" cy="621792"/>
          </a:xfrm>
          <a:prstGeom prst="rect">
            <a:avLst/>
          </a:prstGeom>
          <a:solidFill>
            <a:srgbClr val="F4F6F7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404164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235440" y="4041648"/>
            <a:ext cx="2880360" cy="621792"/>
          </a:xfrm>
          <a:prstGeom prst="rect">
            <a:avLst/>
          </a:prstGeom>
          <a:solidFill>
            <a:srgbClr val="F4F6F7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72600" y="404164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only for the End User path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663440"/>
            <a:ext cx="3017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66344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TSQA at receiving?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474720" y="4663440"/>
            <a:ext cx="2880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11880" y="466344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case-by-case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55080" y="4663440"/>
            <a:ext cx="2880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466344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Mandatory, all items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235440" y="4663440"/>
            <a:ext cx="2880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72600" y="466344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applicable, unless flagged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5285232"/>
            <a:ext cx="3017520" cy="621792"/>
          </a:xfrm>
          <a:prstGeom prst="rect">
            <a:avLst/>
          </a:prstGeom>
          <a:solidFill>
            <a:srgbClr val="F4F6F7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528523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receives / closes GRN?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474720" y="5285232"/>
            <a:ext cx="2880360" cy="621792"/>
          </a:xfrm>
          <a:prstGeom prst="rect">
            <a:avLst/>
          </a:prstGeom>
          <a:solidFill>
            <a:srgbClr val="F4F6F7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11880" y="5285232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55080" y="5285232"/>
            <a:ext cx="2880360" cy="621792"/>
          </a:xfrm>
          <a:prstGeom prst="rect">
            <a:avLst/>
          </a:prstGeom>
          <a:solidFill>
            <a:srgbClr val="F4F6F7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92240" y="5285232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235440" y="5285232"/>
            <a:ext cx="2880360" cy="621792"/>
          </a:xfrm>
          <a:prstGeom prst="rect">
            <a:avLst/>
          </a:prstGeom>
          <a:solidFill>
            <a:srgbClr val="F4F6F7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72600" y="5285232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 Workflow — Quick Reference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572000" cy="4572000"/>
          </a:xfrm>
          <a:prstGeom prst="ellipse">
            <a:avLst/>
          </a:prstGeom>
          <a:solidFill>
            <a:srgbClr val="0B4F6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5212080"/>
            <a:ext cx="2194560" cy="2194560"/>
          </a:xfrm>
          <a:prstGeom prst="ellipse">
            <a:avLst/>
          </a:prstGeom>
          <a:solidFill>
            <a:srgbClr val="E8A33D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3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STANDARD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process, four request types,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traceable end to end.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reflects the process reviewed and approved by the client and serves as the reference standard for implementation.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525780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440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StartupLab Business Center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5742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acknowledgment and sign-off recorded in the full workflow document.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2026-09-16T20:51:46Z</dcterms:created>
  <dcterms:modified xsi:type="dcterms:W3CDTF">2026-09-16T20:51:46Z</dcterms:modified>
</cp:coreProperties>
</file>