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</p:sldIdLst>
  <p:sldSz cx="12161838" cy="6858000"/>
  <p:notesSz cx="6858000" cy="121618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0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7442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554480"/>
            <a:ext cx="4572000" cy="4572000"/>
          </a:xfrm>
          <a:prstGeom prst="ellipse">
            <a:avLst/>
          </a:prstGeom>
          <a:solidFill>
            <a:srgbClr val="0B4F6C">
              <a:alpha val="60000"/>
            </a:srgbClr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10698480" y="-365760"/>
            <a:ext cx="2286000" cy="2286000"/>
          </a:xfrm>
          <a:prstGeom prst="ellipse">
            <a:avLst/>
          </a:prstGeom>
          <a:solidFill>
            <a:srgbClr val="E8A33D">
              <a:alpha val="45000"/>
            </a:srgbClr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STARTUPLAB BUSINESS CENTER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Requisition Approval &amp;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Fulfillment Workflow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947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7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process flow — from employee or planning request through final receiving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4434840"/>
            <a:ext cx="292608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/>
          <p:nvPr/>
        </p:nvSpPr>
        <p:spPr>
          <a:xfrm>
            <a:off x="457200" y="4617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Goods  ·  Raw Materials  ·  Services  ·  Substitute Item Review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080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standard reviewed and confirmed by the client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 WORKFLOW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approval checkpoint has 3 possible actions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4F6F7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20440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30632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request advances to the next approver or process step.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60020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4F6F7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520440" cy="45720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4480560" y="16002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26280" y="2194560"/>
            <a:ext cx="30632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request is closed. The original requestor is notified with the rejection reason.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60020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4F6F7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Shape 11"/>
          <p:cNvSpPr/>
          <p:nvPr/>
        </p:nvSpPr>
        <p:spPr>
          <a:xfrm>
            <a:off x="8138160" y="1600200"/>
            <a:ext cx="3520440" cy="457200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/>
          <p:nvPr/>
        </p:nvSpPr>
        <p:spPr>
          <a:xfrm>
            <a:off x="8321040" y="16002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Revision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66760" y="2194560"/>
            <a:ext cx="30632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request returns to the previous step for correction, then re-enters the same approval stage.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977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shows four related workflows, each as a stage-by-stage flowchart: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0B4F6C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365760" cy="365760"/>
          </a:xfrm>
          <a:prstGeom prst="ellipse">
            <a:avLst/>
          </a:prstGeom>
          <a:solidFill>
            <a:srgbClr val="0B4F6C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9" name="Text 17"/>
          <p:cNvSpPr/>
          <p:nvPr/>
        </p:nvSpPr>
        <p:spPr>
          <a:xfrm>
            <a:off x="64008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459943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09320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request → receiving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46120" y="44348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5B4B8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Shape 21"/>
          <p:cNvSpPr/>
          <p:nvPr/>
        </p:nvSpPr>
        <p:spPr>
          <a:xfrm>
            <a:off x="3429000" y="4617720"/>
            <a:ext cx="365760" cy="365760"/>
          </a:xfrm>
          <a:prstGeom prst="ellipse">
            <a:avLst/>
          </a:prstGeom>
          <a:solidFill>
            <a:srgbClr val="5B4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4" name="Text 22"/>
          <p:cNvSpPr/>
          <p:nvPr/>
        </p:nvSpPr>
        <p:spPr>
          <a:xfrm>
            <a:off x="342900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886200" y="459943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429000" y="509320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request → QA-approved receiving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35040" y="44348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6217920" y="4617720"/>
            <a:ext cx="365760" cy="365760"/>
          </a:xfrm>
          <a:prstGeom prst="ellipse">
            <a:avLst/>
          </a:prstGeom>
          <a:solidFill>
            <a:srgbClr val="2E7D6B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/>
          <p:nvPr/>
        </p:nvSpPr>
        <p:spPr>
          <a:xfrm>
            <a:off x="621792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75120" y="459943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217920" y="509320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 or Planning → Procurement-led receiving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823960" y="44348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9006840" y="4617720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/>
          <p:nvPr/>
        </p:nvSpPr>
        <p:spPr>
          <a:xfrm>
            <a:off x="900684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464040" y="459943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Items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006840" y="509320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alternate offer → review → award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Requisition Workflow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REQUISITION WORKFLOW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of 2: Request → Canvassing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44424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444240" cy="438912"/>
          </a:xfrm>
          <a:prstGeom prst="rect">
            <a:avLst/>
          </a:prstGeom>
          <a:solidFill>
            <a:srgbClr val="0B4F6C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PR1 — Purchase Request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85216" y="238887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/>
          <p:nvPr/>
        </p:nvSpPr>
        <p:spPr>
          <a:xfrm>
            <a:off x="749808" y="2103120"/>
            <a:ext cx="302361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Requestor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PR1, classifies as a Goods request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5216" y="3042666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749808" y="2756916"/>
            <a:ext cx="302361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the request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5216" y="3696462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/>
          <p:nvPr/>
        </p:nvSpPr>
        <p:spPr>
          <a:xfrm>
            <a:off x="749808" y="3410712"/>
            <a:ext cx="302361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Head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the request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85216" y="4350258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/>
          <p:nvPr/>
        </p:nvSpPr>
        <p:spPr>
          <a:xfrm>
            <a:off x="749808" y="4064508"/>
            <a:ext cx="302361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stock; creates PR2 (Prepared By)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92880" y="3063240"/>
            <a:ext cx="274320" cy="27432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6" name="Shape 14"/>
          <p:cNvSpPr/>
          <p:nvPr/>
        </p:nvSpPr>
        <p:spPr>
          <a:xfrm>
            <a:off x="4358640" y="1554480"/>
            <a:ext cx="344424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4358640" y="1554480"/>
            <a:ext cx="3444240" cy="438912"/>
          </a:xfrm>
          <a:prstGeom prst="rect">
            <a:avLst/>
          </a:prstGeom>
          <a:solidFill>
            <a:srgbClr val="0B4F6C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/>
          <p:nvPr/>
        </p:nvSpPr>
        <p:spPr>
          <a:xfrm>
            <a:off x="4495800" y="15544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PR2 — Purchasing Request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86656" y="2715768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/>
          <p:nvPr/>
        </p:nvSpPr>
        <p:spPr>
          <a:xfrm>
            <a:off x="4651248" y="2103120"/>
            <a:ext cx="3023616" cy="1307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Head — </a:t>
            </a: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Certifies the PR2 (Certified By)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86656" y="402336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/>
          <p:nvPr/>
        </p:nvSpPr>
        <p:spPr>
          <a:xfrm>
            <a:off x="4651248" y="3410712"/>
            <a:ext cx="3023616" cy="1307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Manager — </a:t>
            </a: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approval — notifies Procurement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894320" y="3063240"/>
            <a:ext cx="274320" cy="27432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8260080" y="1554480"/>
            <a:ext cx="344424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8260080" y="1554480"/>
            <a:ext cx="3444240" cy="438912"/>
          </a:xfrm>
          <a:prstGeom prst="rect">
            <a:avLst/>
          </a:prstGeom>
          <a:solidFill>
            <a:srgbClr val="0B4F6C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/>
          <p:nvPr/>
        </p:nvSpPr>
        <p:spPr>
          <a:xfrm>
            <a:off x="8397240" y="15544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RFQ — Canvassing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388096" y="2497836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/>
          <p:nvPr/>
        </p:nvSpPr>
        <p:spPr>
          <a:xfrm>
            <a:off x="8552688" y="2103120"/>
            <a:ext cx="3023616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Staff — </a:t>
            </a:r>
            <a:r>
              <a:rPr lang="en-US" sz="11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Prepares RFQ, canvasses suppliers (Prepared By)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388096" y="3369564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/>
          <p:nvPr/>
        </p:nvSpPr>
        <p:spPr>
          <a:xfrm>
            <a:off x="8552688" y="2974848"/>
            <a:ext cx="3023616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Manager — </a:t>
            </a:r>
            <a:r>
              <a:rPr lang="en-US" sz="11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canvassing results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388096" y="4241292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2" name="Text 30"/>
          <p:cNvSpPr/>
          <p:nvPr/>
        </p:nvSpPr>
        <p:spPr>
          <a:xfrm>
            <a:off x="8552688" y="3846576"/>
            <a:ext cx="3023616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— </a:t>
            </a:r>
            <a:r>
              <a:rPr lang="en-US" sz="11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approval — PO may be created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57200" y="5074920"/>
            <a:ext cx="11247120" cy="384048"/>
          </a:xfrm>
          <a:prstGeom prst="roundRect">
            <a:avLst>
              <a:gd name="adj" fmla="val 14286"/>
            </a:avLst>
          </a:prstGeom>
          <a:solidFill>
            <a:srgbClr val="F4F6F7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/>
          <p:nvPr/>
        </p:nvSpPr>
        <p:spPr>
          <a:xfrm>
            <a:off x="640080" y="507492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r>
              <a:rPr lang="en-US" sz="1100" i="1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may adjust the requested quantity to reflect actual stock (partial fulfillment) — a remark explaining the change is required.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Requisition Workflow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REQUISITION WORKFLOW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of 2: Purchase Order → Receiving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444240" cy="3931920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444240" cy="438912"/>
          </a:xfrm>
          <a:prstGeom prst="rect">
            <a:avLst/>
          </a:prstGeom>
          <a:solidFill>
            <a:srgbClr val="0B4F6C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 — Purchase Order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85216" y="246888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/>
          <p:nvPr/>
        </p:nvSpPr>
        <p:spPr>
          <a:xfrm>
            <a:off x="749808" y="2103120"/>
            <a:ext cx="3023616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Staff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PO (Prepared By)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5216" y="3282696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749808" y="2916936"/>
            <a:ext cx="3023616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Manager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the PO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5216" y="4096512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/>
          <p:nvPr/>
        </p:nvSpPr>
        <p:spPr>
          <a:xfrm>
            <a:off x="749808" y="3730752"/>
            <a:ext cx="3023616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Director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approval — notifies Procurement Staff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85216" y="4910328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/>
          <p:nvPr/>
        </p:nvSpPr>
        <p:spPr>
          <a:xfrm>
            <a:off x="749808" y="4544568"/>
            <a:ext cx="3023616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Staff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sends the PO to the supplier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92880" y="3383280"/>
            <a:ext cx="274320" cy="27432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6" name="Shape 14"/>
          <p:cNvSpPr/>
          <p:nvPr/>
        </p:nvSpPr>
        <p:spPr>
          <a:xfrm>
            <a:off x="4358640" y="1554480"/>
            <a:ext cx="3444240" cy="3931920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4358640" y="1554480"/>
            <a:ext cx="3444240" cy="438912"/>
          </a:xfrm>
          <a:prstGeom prst="rect">
            <a:avLst/>
          </a:prstGeom>
          <a:solidFill>
            <a:srgbClr val="0B4F6C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/>
          <p:nvPr/>
        </p:nvSpPr>
        <p:spPr>
          <a:xfrm>
            <a:off x="4495800" y="15544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86656" y="2875788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/>
          <p:nvPr/>
        </p:nvSpPr>
        <p:spPr>
          <a:xfrm>
            <a:off x="4651248" y="2103120"/>
            <a:ext cx="3023616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— </a:t>
            </a: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Acknowledges PO; gives delivery schedule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86656" y="450342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/>
          <p:nvPr/>
        </p:nvSpPr>
        <p:spPr>
          <a:xfrm>
            <a:off x="4651248" y="3730752"/>
            <a:ext cx="3023616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— </a:t>
            </a: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delivery progress in real time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894320" y="3383280"/>
            <a:ext cx="274320" cy="27432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8260080" y="1554480"/>
            <a:ext cx="3444240" cy="3931920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8260080" y="1554480"/>
            <a:ext cx="3444240" cy="438912"/>
          </a:xfrm>
          <a:prstGeom prst="rect">
            <a:avLst/>
          </a:prstGeom>
          <a:solidFill>
            <a:srgbClr val="0B4F6C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/>
          <p:nvPr/>
        </p:nvSpPr>
        <p:spPr>
          <a:xfrm>
            <a:off x="8397240" y="15544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GRN — Goods Receipt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388096" y="2333244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/>
          <p:nvPr/>
        </p:nvSpPr>
        <p:spPr>
          <a:xfrm>
            <a:off x="8552688" y="2103120"/>
            <a:ext cx="302361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vs. DR; inspects &amp; accepts/rejects each item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8388096" y="2875788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/>
          <p:nvPr/>
        </p:nvSpPr>
        <p:spPr>
          <a:xfrm>
            <a:off x="8552688" y="2645664"/>
            <a:ext cx="302361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GRN (GRN#, DR#, INV#, DR date)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8388096" y="3418332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2" name="Text 30"/>
          <p:cNvSpPr/>
          <p:nvPr/>
        </p:nvSpPr>
        <p:spPr>
          <a:xfrm>
            <a:off x="8552688" y="3188208"/>
            <a:ext cx="302361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flag an item for QA (case-by-case)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8388096" y="3960876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/>
          <p:nvPr/>
        </p:nvSpPr>
        <p:spPr>
          <a:xfrm>
            <a:off x="8552688" y="3730752"/>
            <a:ext cx="302361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TSQA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Inspects flagged item(s); marks Approved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8388096" y="450342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6" name="Text 34"/>
          <p:cNvSpPr/>
          <p:nvPr/>
        </p:nvSpPr>
        <p:spPr>
          <a:xfrm>
            <a:off x="8552688" y="4273296"/>
            <a:ext cx="302361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GRN once all items are resolved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8388096" y="5045964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8" name="Text 36"/>
          <p:cNvSpPr/>
          <p:nvPr/>
        </p:nvSpPr>
        <p:spPr>
          <a:xfrm>
            <a:off x="8552688" y="4815840"/>
            <a:ext cx="302361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the finalized GRN</a:t>
            </a:r>
            <a:endParaRPr lang="en-US" sz="930" dirty="0"/>
          </a:p>
        </p:txBody>
      </p:sp>
      <p:sp>
        <p:nvSpPr>
          <p:cNvPr id="39" name="Text 37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Requisition Workflow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5B4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REQUISITION WORKFLOW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of 2: Direct Request → Canvassing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384048"/>
          </a:xfrm>
          <a:prstGeom prst="roundRect">
            <a:avLst>
              <a:gd name="adj" fmla="val 14286"/>
            </a:avLst>
          </a:prstGeom>
          <a:solidFill>
            <a:srgbClr val="F4F6F7"/>
          </a:solidFill>
          <a:ln w="12700">
            <a:solidFill>
              <a:srgbClr val="5B4B8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5B4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r>
              <a:rPr lang="en-US" sz="1100" i="1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exclusively by Planning (MRP / production forecast) — no PR1 and no Warehouse validation required.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34442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3444240" cy="438912"/>
          </a:xfrm>
          <a:prstGeom prst="rect">
            <a:avLst/>
          </a:prstGeom>
          <a:solidFill>
            <a:srgbClr val="5B4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/>
          <p:nvPr/>
        </p:nvSpPr>
        <p:spPr>
          <a:xfrm>
            <a:off x="594360" y="20116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PR2 — Direct Entry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5216" y="2886456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749808" y="2560320"/>
            <a:ext cx="3023616" cy="734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— </a:t>
            </a:r>
            <a:r>
              <a:rPr lang="en-US" sz="11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PR2 directly, classified as Raw Material (Prepared By)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85216" y="3621024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/>
          <p:nvPr/>
        </p:nvSpPr>
        <p:spPr>
          <a:xfrm>
            <a:off x="749808" y="3294888"/>
            <a:ext cx="3023616" cy="734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Head — </a:t>
            </a:r>
            <a:r>
              <a:rPr lang="en-US" sz="11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Certifies the PR2 (Certified By)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216" y="4355592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/>
          <p:nvPr/>
        </p:nvSpPr>
        <p:spPr>
          <a:xfrm>
            <a:off x="749808" y="4029456"/>
            <a:ext cx="3023616" cy="734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Manager — </a:t>
            </a:r>
            <a:r>
              <a:rPr lang="en-US" sz="11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approval — notifies Procurement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992880" y="3314700"/>
            <a:ext cx="274320" cy="27432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6" name="Shape 14"/>
          <p:cNvSpPr/>
          <p:nvPr/>
        </p:nvSpPr>
        <p:spPr>
          <a:xfrm>
            <a:off x="4358640" y="2011680"/>
            <a:ext cx="34442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4358640" y="2011680"/>
            <a:ext cx="3444240" cy="438912"/>
          </a:xfrm>
          <a:prstGeom prst="rect">
            <a:avLst/>
          </a:prstGeom>
          <a:solidFill>
            <a:srgbClr val="5B4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/>
          <p:nvPr/>
        </p:nvSpPr>
        <p:spPr>
          <a:xfrm>
            <a:off x="4495800" y="20116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RFQ — Canvassing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86656" y="2886456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/>
          <p:nvPr/>
        </p:nvSpPr>
        <p:spPr>
          <a:xfrm>
            <a:off x="4651248" y="2560320"/>
            <a:ext cx="3023616" cy="734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Staff — </a:t>
            </a:r>
            <a:r>
              <a:rPr lang="en-US" sz="11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Prepares RFQ, canvasses raw material suppliers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486656" y="3621024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/>
          <p:nvPr/>
        </p:nvSpPr>
        <p:spPr>
          <a:xfrm>
            <a:off x="4651248" y="3294888"/>
            <a:ext cx="3023616" cy="734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Manager — </a:t>
            </a:r>
            <a:r>
              <a:rPr lang="en-US" sz="11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canvassing results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86656" y="4355592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4" name="Text 22"/>
          <p:cNvSpPr/>
          <p:nvPr/>
        </p:nvSpPr>
        <p:spPr>
          <a:xfrm>
            <a:off x="4651248" y="4029456"/>
            <a:ext cx="3023616" cy="734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— </a:t>
            </a:r>
            <a:r>
              <a:rPr lang="en-US" sz="11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approval — PO may be created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894320" y="3314700"/>
            <a:ext cx="274320" cy="27432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6" name="Shape 24"/>
          <p:cNvSpPr/>
          <p:nvPr/>
        </p:nvSpPr>
        <p:spPr>
          <a:xfrm>
            <a:off x="8260080" y="2011680"/>
            <a:ext cx="34442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5"/>
          <p:cNvSpPr/>
          <p:nvPr/>
        </p:nvSpPr>
        <p:spPr>
          <a:xfrm>
            <a:off x="8260080" y="2011680"/>
            <a:ext cx="3444240" cy="438912"/>
          </a:xfrm>
          <a:prstGeom prst="rect">
            <a:avLst/>
          </a:prstGeom>
          <a:solidFill>
            <a:srgbClr val="5B4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/>
          <p:nvPr/>
        </p:nvSpPr>
        <p:spPr>
          <a:xfrm>
            <a:off x="8397240" y="20116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 — Purchase Order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388096" y="2794635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/>
          <p:nvPr/>
        </p:nvSpPr>
        <p:spPr>
          <a:xfrm>
            <a:off x="8552688" y="2560320"/>
            <a:ext cx="3023616" cy="5509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Staff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PO (Prepared By)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388096" y="3345561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2" name="Text 30"/>
          <p:cNvSpPr/>
          <p:nvPr/>
        </p:nvSpPr>
        <p:spPr>
          <a:xfrm>
            <a:off x="8552688" y="3111246"/>
            <a:ext cx="3023616" cy="5509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Manager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the PO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388096" y="3896487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/>
          <p:nvPr/>
        </p:nvSpPr>
        <p:spPr>
          <a:xfrm>
            <a:off x="8552688" y="3662172"/>
            <a:ext cx="3023616" cy="5509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Director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approval — notifies Procurement Staff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388096" y="4447413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6" name="Text 34"/>
          <p:cNvSpPr/>
          <p:nvPr/>
        </p:nvSpPr>
        <p:spPr>
          <a:xfrm>
            <a:off x="8552688" y="4213098"/>
            <a:ext cx="3023616" cy="5509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Staff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sends the PO to the supplier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Requisition Workflow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5B4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REQUISITION WORKFLOW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of 2: Delivery → GRN &amp; Mandatory QA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394960" cy="393192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438912"/>
          </a:xfrm>
          <a:prstGeom prst="rect">
            <a:avLst/>
          </a:prstGeom>
          <a:solidFill>
            <a:srgbClr val="5B4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85216" y="2875788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/>
          <p:nvPr/>
        </p:nvSpPr>
        <p:spPr>
          <a:xfrm>
            <a:off x="749808" y="2103120"/>
            <a:ext cx="4974336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— </a:t>
            </a: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Acknowledges PO; gives delivery schedule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" y="450342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749808" y="3730752"/>
            <a:ext cx="4974336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— </a:t>
            </a: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delivery progress — visible to Procurement, Warehouse, and Planning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3383280"/>
            <a:ext cx="274320" cy="27432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2" name="Shape 10"/>
          <p:cNvSpPr/>
          <p:nvPr/>
        </p:nvSpPr>
        <p:spPr>
          <a:xfrm>
            <a:off x="6309360" y="1554480"/>
            <a:ext cx="5394960" cy="3931920"/>
          </a:xfrm>
          <a:prstGeom prst="roundRect">
            <a:avLst>
              <a:gd name="adj" fmla="val 1628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Shape 11"/>
          <p:cNvSpPr/>
          <p:nvPr/>
        </p:nvSpPr>
        <p:spPr>
          <a:xfrm>
            <a:off x="6309360" y="1554480"/>
            <a:ext cx="5394960" cy="438912"/>
          </a:xfrm>
          <a:prstGeom prst="rect">
            <a:avLst/>
          </a:prstGeom>
          <a:solidFill>
            <a:srgbClr val="5B4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/>
          <p:nvPr/>
        </p:nvSpPr>
        <p:spPr>
          <a:xfrm>
            <a:off x="6446520" y="1554480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GRN &amp; TSQA Approval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37376" y="2333244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/>
          <p:nvPr/>
        </p:nvSpPr>
        <p:spPr>
          <a:xfrm>
            <a:off x="6601968" y="2103120"/>
            <a:ext cx="497433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vs. DR; inspects &amp; accepts/rejects each item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6437376" y="2875788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/>
          <p:nvPr/>
        </p:nvSpPr>
        <p:spPr>
          <a:xfrm>
            <a:off x="6601968" y="2645664"/>
            <a:ext cx="497433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GRN (GRN#, DR#, INV#, DR date)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6437376" y="3418332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/>
          <p:nvPr/>
        </p:nvSpPr>
        <p:spPr>
          <a:xfrm>
            <a:off x="6601968" y="3188208"/>
            <a:ext cx="497433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every accepted item for QA (mandatory)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6437376" y="3960876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/>
          <p:nvPr/>
        </p:nvSpPr>
        <p:spPr>
          <a:xfrm>
            <a:off x="6601968" y="3730752"/>
            <a:ext cx="497433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TSQA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Inspects flagged item(s); marks Approved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6437376" y="450342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4" name="Text 22"/>
          <p:cNvSpPr/>
          <p:nvPr/>
        </p:nvSpPr>
        <p:spPr>
          <a:xfrm>
            <a:off x="6601968" y="4273296"/>
            <a:ext cx="497433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GRN once all items, incl. QA, are resolved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6437376" y="5045964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/>
          <p:nvPr/>
        </p:nvSpPr>
        <p:spPr>
          <a:xfrm>
            <a:off x="6601968" y="4815840"/>
            <a:ext cx="497433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the finalized GRN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11247120" cy="384048"/>
          </a:xfrm>
          <a:prstGeom prst="roundRect">
            <a:avLst>
              <a:gd name="adj" fmla="val 14286"/>
            </a:avLst>
          </a:prstGeom>
          <a:solidFill>
            <a:srgbClr val="F4F6F7"/>
          </a:solidFill>
          <a:ln w="12700">
            <a:solidFill>
              <a:srgbClr val="5B4B8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/>
          <p:nvPr/>
        </p:nvSpPr>
        <p:spPr>
          <a:xfrm>
            <a:off x="640080" y="562356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5B4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r>
              <a:rPr lang="en-US" sz="1100" i="1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 from Goods: QA flagging is mandatory for every raw material item — not a case-by-case decision.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Requisition Workflow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2E7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REQUISITION WORKFLOW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of 2: Two Entry Points → Canvassing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444240" cy="4434840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444240" cy="438912"/>
          </a:xfrm>
          <a:prstGeom prst="rect">
            <a:avLst/>
          </a:prstGeom>
          <a:solidFill>
            <a:srgbClr val="2E7D6B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PR1 / PR2 — Entry Points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2103120"/>
            <a:ext cx="3224784" cy="417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6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End User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585216" y="2688336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/>
          <p:nvPr/>
        </p:nvSpPr>
        <p:spPr>
          <a:xfrm>
            <a:off x="749808" y="2520696"/>
            <a:ext cx="3023616" cy="417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 — </a:t>
            </a:r>
            <a:r>
              <a:rPr lang="en-US" sz="86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PR1 (service request)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585216" y="3105912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/>
          <p:nvPr/>
        </p:nvSpPr>
        <p:spPr>
          <a:xfrm>
            <a:off x="749808" y="2938272"/>
            <a:ext cx="3023616" cy="417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→ Dept. Head — </a:t>
            </a:r>
            <a:r>
              <a:rPr lang="en-US" sz="86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and approves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585216" y="3523488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/>
          <p:nvPr/>
        </p:nvSpPr>
        <p:spPr>
          <a:xfrm>
            <a:off x="749808" y="3355848"/>
            <a:ext cx="3023616" cy="417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86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PR1 to PR2 (Prepared By)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566928" y="3773424"/>
            <a:ext cx="3224784" cy="417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6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Planning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585216" y="435864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/>
          <p:nvPr/>
        </p:nvSpPr>
        <p:spPr>
          <a:xfrm>
            <a:off x="749808" y="4191000"/>
            <a:ext cx="3023616" cy="417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— </a:t>
            </a:r>
            <a:r>
              <a:rPr lang="en-US" sz="86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PR2 directly — no PR1 required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566928" y="4608576"/>
            <a:ext cx="3224784" cy="417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6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paths converge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585216" y="5193792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9" name="Text 17"/>
          <p:cNvSpPr/>
          <p:nvPr/>
        </p:nvSpPr>
        <p:spPr>
          <a:xfrm>
            <a:off x="749808" y="5026152"/>
            <a:ext cx="3023616" cy="417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Head — </a:t>
            </a:r>
            <a:r>
              <a:rPr lang="en-US" sz="86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Certifies the PR2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85216" y="5611368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/>
          <p:nvPr/>
        </p:nvSpPr>
        <p:spPr>
          <a:xfrm>
            <a:off x="749808" y="5443728"/>
            <a:ext cx="3023616" cy="4175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Manager — </a:t>
            </a:r>
            <a:r>
              <a:rPr lang="en-US" sz="86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approval — notifies Procurement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3992880" y="3634740"/>
            <a:ext cx="274320" cy="27432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3" name="Shape 21"/>
          <p:cNvSpPr/>
          <p:nvPr/>
        </p:nvSpPr>
        <p:spPr>
          <a:xfrm>
            <a:off x="4358640" y="1554480"/>
            <a:ext cx="3444240" cy="4434840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4358640" y="1554480"/>
            <a:ext cx="3444240" cy="438912"/>
          </a:xfrm>
          <a:prstGeom prst="rect">
            <a:avLst/>
          </a:prstGeom>
          <a:solidFill>
            <a:srgbClr val="2E7D6B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/>
          <p:nvPr/>
        </p:nvSpPr>
        <p:spPr>
          <a:xfrm>
            <a:off x="4495800" y="15544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RFQ — Canvassing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486656" y="2688336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/>
          <p:nvPr/>
        </p:nvSpPr>
        <p:spPr>
          <a:xfrm>
            <a:off x="4651248" y="2103120"/>
            <a:ext cx="302361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Staff — </a:t>
            </a:r>
            <a:r>
              <a:rPr lang="en-US" sz="11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Prepares RFQ, canvasses service suppliers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86656" y="3941064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/>
          <p:nvPr/>
        </p:nvSpPr>
        <p:spPr>
          <a:xfrm>
            <a:off x="4651248" y="3355848"/>
            <a:ext cx="302361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Manager — </a:t>
            </a:r>
            <a:r>
              <a:rPr lang="en-US" sz="11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canvassing results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486656" y="5193792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/>
          <p:nvPr/>
        </p:nvSpPr>
        <p:spPr>
          <a:xfrm>
            <a:off x="4651248" y="4608576"/>
            <a:ext cx="302361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— </a:t>
            </a:r>
            <a:r>
              <a:rPr lang="en-US" sz="11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approval — PO may be created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894320" y="3634740"/>
            <a:ext cx="274320" cy="27432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8260080" y="1554480"/>
            <a:ext cx="3444240" cy="4434840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Shape 32"/>
          <p:cNvSpPr/>
          <p:nvPr/>
        </p:nvSpPr>
        <p:spPr>
          <a:xfrm>
            <a:off x="8260080" y="1554480"/>
            <a:ext cx="3444240" cy="438912"/>
          </a:xfrm>
          <a:prstGeom prst="rect">
            <a:avLst/>
          </a:prstGeom>
          <a:solidFill>
            <a:srgbClr val="2E7D6B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/>
          <p:nvPr/>
        </p:nvSpPr>
        <p:spPr>
          <a:xfrm>
            <a:off x="8397240" y="15544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 — Purchase Order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388096" y="2531745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/>
          <p:nvPr/>
        </p:nvSpPr>
        <p:spPr>
          <a:xfrm>
            <a:off x="8552688" y="2103120"/>
            <a:ext cx="3023616" cy="9395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Staff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PO (Prepared By)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388096" y="3471291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9" name="Text 37"/>
          <p:cNvSpPr/>
          <p:nvPr/>
        </p:nvSpPr>
        <p:spPr>
          <a:xfrm>
            <a:off x="8552688" y="3042666"/>
            <a:ext cx="3023616" cy="9395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Manager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the PO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388096" y="4410837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1" name="Text 39"/>
          <p:cNvSpPr/>
          <p:nvPr/>
        </p:nvSpPr>
        <p:spPr>
          <a:xfrm>
            <a:off x="8552688" y="3982212"/>
            <a:ext cx="3023616" cy="9395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Director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approval — notifies Procurement Staff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388096" y="5350383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3" name="Text 41"/>
          <p:cNvSpPr/>
          <p:nvPr/>
        </p:nvSpPr>
        <p:spPr>
          <a:xfrm>
            <a:off x="8552688" y="4921758"/>
            <a:ext cx="3023616" cy="9395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Staff — </a:t>
            </a:r>
            <a:r>
              <a:rPr lang="en-US" sz="105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sends the PO to the supplier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Requisition Workflow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2E7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REQUISITION WORKFLOW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of 2: Delivery → Procurement-Led Receiving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444240" cy="3931920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444240" cy="438912"/>
          </a:xfrm>
          <a:prstGeom prst="rect">
            <a:avLst/>
          </a:prstGeom>
          <a:solidFill>
            <a:srgbClr val="2E7D6B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85216" y="2875788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/>
          <p:nvPr/>
        </p:nvSpPr>
        <p:spPr>
          <a:xfrm>
            <a:off x="749808" y="2103120"/>
            <a:ext cx="3023616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— </a:t>
            </a: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Acknowledges PO; gives service/delivery schedule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" y="450342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749808" y="3730752"/>
            <a:ext cx="3023616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— </a:t>
            </a: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progress — visible to Procurement, Warehouse, Requestor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92880" y="3383280"/>
            <a:ext cx="274320" cy="27432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2" name="Shape 10"/>
          <p:cNvSpPr/>
          <p:nvPr/>
        </p:nvSpPr>
        <p:spPr>
          <a:xfrm>
            <a:off x="4358640" y="1554480"/>
            <a:ext cx="3444240" cy="3931920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Shape 11"/>
          <p:cNvSpPr/>
          <p:nvPr/>
        </p:nvSpPr>
        <p:spPr>
          <a:xfrm>
            <a:off x="4358640" y="1554480"/>
            <a:ext cx="3444240" cy="438912"/>
          </a:xfrm>
          <a:prstGeom prst="rect">
            <a:avLst/>
          </a:prstGeom>
          <a:solidFill>
            <a:srgbClr val="2E7D6B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/>
          <p:nvPr/>
        </p:nvSpPr>
        <p:spPr>
          <a:xfrm>
            <a:off x="4495800" y="15544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GRN — Receiving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486656" y="2333244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/>
          <p:nvPr/>
        </p:nvSpPr>
        <p:spPr>
          <a:xfrm>
            <a:off x="4651248" y="2103120"/>
            <a:ext cx="302361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the delivery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486656" y="2875788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/>
          <p:nvPr/>
        </p:nvSpPr>
        <p:spPr>
          <a:xfrm>
            <a:off x="4651248" y="2645664"/>
            <a:ext cx="302361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Determines if Procurement must GRN this service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486656" y="3418332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/>
          <p:nvPr/>
        </p:nvSpPr>
        <p:spPr>
          <a:xfrm>
            <a:off x="4651248" y="3188208"/>
            <a:ext cx="302361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 to Procurement if required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4486656" y="3960876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/>
          <p:nvPr/>
        </p:nvSpPr>
        <p:spPr>
          <a:xfrm>
            <a:off x="4651248" y="3730752"/>
            <a:ext cx="302361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/ Procurement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 to TSQA once service is done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4486656" y="450342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4" name="Text 22"/>
          <p:cNvSpPr/>
          <p:nvPr/>
        </p:nvSpPr>
        <p:spPr>
          <a:xfrm>
            <a:off x="4651248" y="4273296"/>
            <a:ext cx="302361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TSQA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Inspects flagged service; marks Approved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486656" y="5045964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/>
          <p:nvPr/>
        </p:nvSpPr>
        <p:spPr>
          <a:xfrm>
            <a:off x="4651248" y="4815840"/>
            <a:ext cx="3023616" cy="542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93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/ Procurement — </a:t>
            </a:r>
            <a:r>
              <a:rPr lang="en-US" sz="93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GRN and prints the finalized copy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7894320" y="3383280"/>
            <a:ext cx="274320" cy="27432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8260080" y="1554480"/>
            <a:ext cx="3444240" cy="3931920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8260080" y="1554480"/>
            <a:ext cx="3444240" cy="438912"/>
          </a:xfrm>
          <a:prstGeom prst="rect">
            <a:avLst/>
          </a:prstGeom>
          <a:solidFill>
            <a:srgbClr val="2E7D6B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/>
          <p:nvPr/>
        </p:nvSpPr>
        <p:spPr>
          <a:xfrm>
            <a:off x="8397240" y="1554480"/>
            <a:ext cx="3169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Docs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388096" y="2875788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2" name="Text 30"/>
          <p:cNvSpPr/>
          <p:nvPr/>
        </p:nvSpPr>
        <p:spPr>
          <a:xfrm>
            <a:off x="8552688" y="2103120"/>
            <a:ext cx="3023616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— </a:t>
            </a: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required docs (e.g., Certificate of Calibration) to the Supplier Dashboard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388096" y="4503420"/>
            <a:ext cx="82296" cy="82296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/>
          <p:nvPr/>
        </p:nvSpPr>
        <p:spPr>
          <a:xfrm>
            <a:off x="8552688" y="3730752"/>
            <a:ext cx="3023616" cy="1627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— </a:t>
            </a:r>
            <a:r>
              <a:rPr lang="en-US" sz="12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not finalize receipt if required documentation is missing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5623560"/>
            <a:ext cx="11247120" cy="384048"/>
          </a:xfrm>
          <a:prstGeom prst="roundRect">
            <a:avLst>
              <a:gd name="adj" fmla="val 14286"/>
            </a:avLst>
          </a:prstGeom>
          <a:solidFill>
            <a:srgbClr val="F4F6F7"/>
          </a:solidFill>
          <a:ln w="1270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6" name="Text 34"/>
          <p:cNvSpPr/>
          <p:nvPr/>
        </p:nvSpPr>
        <p:spPr>
          <a:xfrm>
            <a:off x="640080" y="562356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2E7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r>
              <a:rPr lang="en-US" sz="1100" i="1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 from Goods: Procurement, not Warehouse, receives and closes the GRN for services; TSQA applies only when flagged.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Requisition Workflow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three request types differ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017520" cy="621792"/>
          </a:xfrm>
          <a:prstGeom prst="rect">
            <a:avLst/>
          </a:prstGeom>
          <a:solidFill>
            <a:srgbClr val="0B2A3D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/>
          <p:nvPr/>
        </p:nvSpPr>
        <p:spPr>
          <a:xfrm>
            <a:off x="594360" y="1554480"/>
            <a:ext cx="2743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474720" y="1554480"/>
            <a:ext cx="2880360" cy="621792"/>
          </a:xfrm>
          <a:prstGeom prst="rect">
            <a:avLst/>
          </a:prstGeom>
          <a:solidFill>
            <a:srgbClr val="0B2A3D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/>
          <p:nvPr/>
        </p:nvSpPr>
        <p:spPr>
          <a:xfrm>
            <a:off x="3611880" y="1554480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1554480"/>
            <a:ext cx="2880360" cy="621792"/>
          </a:xfrm>
          <a:prstGeom prst="rect">
            <a:avLst/>
          </a:prstGeom>
          <a:solidFill>
            <a:srgbClr val="0B2A3D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/>
          <p:nvPr/>
        </p:nvSpPr>
        <p:spPr>
          <a:xfrm>
            <a:off x="6492240" y="1554480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6D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235440" y="1554480"/>
            <a:ext cx="2880360" cy="621792"/>
          </a:xfrm>
          <a:prstGeom prst="rect">
            <a:avLst/>
          </a:prstGeom>
          <a:solidFill>
            <a:srgbClr val="0B2A3D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/>
          <p:nvPr/>
        </p:nvSpPr>
        <p:spPr>
          <a:xfrm>
            <a:off x="9372600" y="1554480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D6F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76272"/>
            <a:ext cx="30175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/>
          <p:nvPr/>
        </p:nvSpPr>
        <p:spPr>
          <a:xfrm>
            <a:off x="594360" y="2176272"/>
            <a:ext cx="2743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74720" y="2176272"/>
            <a:ext cx="2880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/>
          <p:nvPr/>
        </p:nvSpPr>
        <p:spPr>
          <a:xfrm>
            <a:off x="3611880" y="2176272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PR1 (Employee)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2176272"/>
            <a:ext cx="2880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/>
          <p:nvPr/>
        </p:nvSpPr>
        <p:spPr>
          <a:xfrm>
            <a:off x="6492240" y="2176272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PR2 direct (Planning only)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235440" y="2176272"/>
            <a:ext cx="2880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Text 17"/>
          <p:cNvSpPr/>
          <p:nvPr/>
        </p:nvSpPr>
        <p:spPr>
          <a:xfrm>
            <a:off x="9372600" y="2176272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PR1 (End User) or PR2 direct (Planning)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798064"/>
            <a:ext cx="3017520" cy="621792"/>
          </a:xfrm>
          <a:prstGeom prst="rect">
            <a:avLst/>
          </a:prstGeom>
          <a:solidFill>
            <a:srgbClr val="F4F6F7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/>
          <p:nvPr/>
        </p:nvSpPr>
        <p:spPr>
          <a:xfrm>
            <a:off x="594360" y="2798064"/>
            <a:ext cx="2743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PR1 required?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74720" y="2798064"/>
            <a:ext cx="2880360" cy="621792"/>
          </a:xfrm>
          <a:prstGeom prst="rect">
            <a:avLst/>
          </a:prstGeom>
          <a:solidFill>
            <a:srgbClr val="F4F6F7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/>
          <p:nvPr/>
        </p:nvSpPr>
        <p:spPr>
          <a:xfrm>
            <a:off x="3611880" y="2798064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2798064"/>
            <a:ext cx="2880360" cy="621792"/>
          </a:xfrm>
          <a:prstGeom prst="rect">
            <a:avLst/>
          </a:prstGeom>
          <a:solidFill>
            <a:srgbClr val="F4F6F7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/>
          <p:nvPr/>
        </p:nvSpPr>
        <p:spPr>
          <a:xfrm>
            <a:off x="6492240" y="2798064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235440" y="2798064"/>
            <a:ext cx="2880360" cy="621792"/>
          </a:xfrm>
          <a:prstGeom prst="rect">
            <a:avLst/>
          </a:prstGeom>
          <a:solidFill>
            <a:srgbClr val="F4F6F7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/>
          <p:nvPr/>
        </p:nvSpPr>
        <p:spPr>
          <a:xfrm>
            <a:off x="9372600" y="2798064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for the End User path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419856"/>
            <a:ext cx="30175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/>
          <p:nvPr/>
        </p:nvSpPr>
        <p:spPr>
          <a:xfrm>
            <a:off x="594360" y="3419856"/>
            <a:ext cx="2743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requests?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474720" y="3419856"/>
            <a:ext cx="2880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/>
          <p:nvPr/>
        </p:nvSpPr>
        <p:spPr>
          <a:xfrm>
            <a:off x="3611880" y="3419856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Requestor / Employee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55080" y="3419856"/>
            <a:ext cx="2880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31"/>
          <p:cNvSpPr/>
          <p:nvPr/>
        </p:nvSpPr>
        <p:spPr>
          <a:xfrm>
            <a:off x="6492240" y="3419856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only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235440" y="3419856"/>
            <a:ext cx="2880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/>
          <p:nvPr/>
        </p:nvSpPr>
        <p:spPr>
          <a:xfrm>
            <a:off x="9372600" y="3419856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 or Planning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4041648"/>
            <a:ext cx="3017520" cy="621792"/>
          </a:xfrm>
          <a:prstGeom prst="rect">
            <a:avLst/>
          </a:prstGeom>
          <a:solidFill>
            <a:srgbClr val="F4F6F7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/>
          <p:nvPr/>
        </p:nvSpPr>
        <p:spPr>
          <a:xfrm>
            <a:off x="594360" y="4041648"/>
            <a:ext cx="2743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validation?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474720" y="4041648"/>
            <a:ext cx="2880360" cy="621792"/>
          </a:xfrm>
          <a:prstGeom prst="rect">
            <a:avLst/>
          </a:prstGeom>
          <a:solidFill>
            <a:srgbClr val="F4F6F7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Text 37"/>
          <p:cNvSpPr/>
          <p:nvPr/>
        </p:nvSpPr>
        <p:spPr>
          <a:xfrm>
            <a:off x="3611880" y="4041648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stock check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4041648"/>
            <a:ext cx="2880360" cy="621792"/>
          </a:xfrm>
          <a:prstGeom prst="rect">
            <a:avLst/>
          </a:prstGeom>
          <a:solidFill>
            <a:srgbClr val="F4F6F7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Text 39"/>
          <p:cNvSpPr/>
          <p:nvPr/>
        </p:nvSpPr>
        <p:spPr>
          <a:xfrm>
            <a:off x="6492240" y="4041648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235440" y="4041648"/>
            <a:ext cx="2880360" cy="621792"/>
          </a:xfrm>
          <a:prstGeom prst="rect">
            <a:avLst/>
          </a:prstGeom>
          <a:solidFill>
            <a:srgbClr val="F4F6F7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3" name="Text 41"/>
          <p:cNvSpPr/>
          <p:nvPr/>
        </p:nvSpPr>
        <p:spPr>
          <a:xfrm>
            <a:off x="9372600" y="4041648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only for the End User path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4663440"/>
            <a:ext cx="30175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Text 43"/>
          <p:cNvSpPr/>
          <p:nvPr/>
        </p:nvSpPr>
        <p:spPr>
          <a:xfrm>
            <a:off x="594360" y="4663440"/>
            <a:ext cx="2743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TSQA at receiving?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3474720" y="4663440"/>
            <a:ext cx="2880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Text 45"/>
          <p:cNvSpPr/>
          <p:nvPr/>
        </p:nvSpPr>
        <p:spPr>
          <a:xfrm>
            <a:off x="3611880" y="4663440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case-by-case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55080" y="4663440"/>
            <a:ext cx="2880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Text 47"/>
          <p:cNvSpPr/>
          <p:nvPr/>
        </p:nvSpPr>
        <p:spPr>
          <a:xfrm>
            <a:off x="6492240" y="4663440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Mandatory, all items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9235440" y="4663440"/>
            <a:ext cx="2880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Text 49"/>
          <p:cNvSpPr/>
          <p:nvPr/>
        </p:nvSpPr>
        <p:spPr>
          <a:xfrm>
            <a:off x="9372600" y="4663440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applicable, unless flagged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5285232"/>
            <a:ext cx="3017520" cy="621792"/>
          </a:xfrm>
          <a:prstGeom prst="rect">
            <a:avLst/>
          </a:prstGeom>
          <a:solidFill>
            <a:srgbClr val="F4F6F7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3" name="Text 51"/>
          <p:cNvSpPr/>
          <p:nvPr/>
        </p:nvSpPr>
        <p:spPr>
          <a:xfrm>
            <a:off x="594360" y="5285232"/>
            <a:ext cx="2743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receives / closes GRN?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3474720" y="5285232"/>
            <a:ext cx="2880360" cy="621792"/>
          </a:xfrm>
          <a:prstGeom prst="rect">
            <a:avLst/>
          </a:prstGeom>
          <a:solidFill>
            <a:srgbClr val="F4F6F7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5" name="Text 53"/>
          <p:cNvSpPr/>
          <p:nvPr/>
        </p:nvSpPr>
        <p:spPr>
          <a:xfrm>
            <a:off x="3611880" y="5285232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355080" y="5285232"/>
            <a:ext cx="2880360" cy="621792"/>
          </a:xfrm>
          <a:prstGeom prst="rect">
            <a:avLst/>
          </a:prstGeom>
          <a:solidFill>
            <a:srgbClr val="F4F6F7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7" name="Text 55"/>
          <p:cNvSpPr/>
          <p:nvPr/>
        </p:nvSpPr>
        <p:spPr>
          <a:xfrm>
            <a:off x="6492240" y="5285232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235440" y="5285232"/>
            <a:ext cx="2880360" cy="621792"/>
          </a:xfrm>
          <a:prstGeom prst="rect">
            <a:avLst/>
          </a:prstGeom>
          <a:solidFill>
            <a:srgbClr val="F4F6F7"/>
          </a:solidFill>
          <a:ln w="9525">
            <a:solidFill>
              <a:srgbClr val="E1E6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9" name="Text 57"/>
          <p:cNvSpPr/>
          <p:nvPr/>
        </p:nvSpPr>
        <p:spPr>
          <a:xfrm>
            <a:off x="9372600" y="5285232"/>
            <a:ext cx="26060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Requisition Workflow — Quick Reference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572000" cy="4572000"/>
          </a:xfrm>
          <a:prstGeom prst="ellipse">
            <a:avLst/>
          </a:prstGeom>
          <a:solidFill>
            <a:srgbClr val="0B4F6C">
              <a:alpha val="60000"/>
            </a:srgbClr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-365760" y="5212080"/>
            <a:ext cx="2194560" cy="2194560"/>
          </a:xfrm>
          <a:prstGeom prst="ellipse">
            <a:avLst/>
          </a:prstGeom>
          <a:solidFill>
            <a:srgbClr val="E8A33D">
              <a:alpha val="45000"/>
            </a:srgbClr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STANDARD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process, four request types,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traceable end to end.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388620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7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reflects the process reviewed and approved by the client and serves as the reference standard for implementation.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5257800"/>
            <a:ext cx="292608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/>
          <p:nvPr/>
        </p:nvSpPr>
        <p:spPr>
          <a:xfrm>
            <a:off x="457200" y="5440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StartupLab Business Center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57424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acknowledgment and sign-off recorded in the full workflow document.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1169</Words>
  <Application>Microsoft Office PowerPoint</Application>
  <PresentationFormat>Custom</PresentationFormat>
  <Paragraphs>186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Rovick Romasanta</cp:lastModifiedBy>
  <cp:revision>2</cp:revision>
  <dcterms:created xsi:type="dcterms:W3CDTF">2026-09-16T20:51:46Z</dcterms:created>
  <dcterms:modified xsi:type="dcterms:W3CDTF">2026-09-17T02:19:14Z</dcterms:modified>
</cp:coreProperties>
</file>